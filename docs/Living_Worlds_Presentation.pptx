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Living Worlds</a:t>
            </a:r>
          </a:p>
          <a:p>
            <a:r>
              <a:t>GPU-Accelerated Terrain Simulation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CS380 GPU Programming - Final Presentation</a:t>
            </a:r>
          </a:p>
          <a:p/>
          <a:p>
            <a:r>
              <a:t>Mohammad Alkhalifah</a:t>
            </a:r>
          </a:p>
          <a:p>
            <a:r>
              <a:t>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Static Terrain is Boring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Traditional approaches:</a:t>
            </a:r>
          </a:p>
          <a:p>
            <a:pPr lvl="1"/>
            <a:r>
              <a:t>Offline generation or manual sculpting</a:t>
            </a:r>
          </a:p>
          <a:p>
            <a:pPr/>
            <a:r>
              <a:t>Games need: Dynamic, evolving worlds</a:t>
            </a:r>
          </a:p>
          <a:p>
            <a:br/>
            <a:r>
              <a:t>Our Goal:</a:t>
            </a:r>
          </a:p>
          <a:p>
            <a:pPr>
              <a:defRPr b="1"/>
            </a:pPr>
            <a:r>
              <a:t>Real-time terrain simulation using GPU cellular automata with interactive framerates.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Built: Living Worlds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Architecture Components: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274320">
                <a:tc>
                  <a:txBody>
                    <a:bodyPr/>
                    <a:lstStyle/>
                    <a:p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Geological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Thermal erosion simulation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Ecological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 biome types with spreading rules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Feedback Loop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Forests stabilize terrain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Renderer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2.5D isometric with atmospheric fog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GPU Architecture: Vulkan Compute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urier New"/>
              </a:defRPr>
            </a:pPr>
          </a:p>
          <a:p>
            <a:pPr>
              <a:defRPr sz="1400">
                <a:latin typeface="Courier New"/>
              </a:defRPr>
            </a:pPr>
            <a:r>
              <a:t>    Heightmap A ──► Erosion ──► Heightmap B</a:t>
            </a:r>
          </a:p>
          <a:p>
            <a:pPr>
              <a:defRPr sz="1400">
                <a:latin typeface="Courier New"/>
              </a:defRPr>
            </a:pPr>
            <a:r>
              <a:t>        ↑                           │</a:t>
            </a:r>
          </a:p>
          <a:p>
            <a:pPr>
              <a:defRPr sz="1400">
                <a:latin typeface="Courier New"/>
              </a:defRPr>
            </a:pPr>
            <a:r>
              <a:t>        └────── Ping-Pong Swap ─────┘</a:t>
            </a:r>
          </a:p>
          <a:p>
            <a:pPr>
              <a:defRPr sz="1400">
                <a:latin typeface="Courier New"/>
              </a:defRPr>
            </a:pPr>
          </a:p>
          <a:p>
            <a:pPr>
              <a:defRPr sz="1400">
                <a:latin typeface="Courier New"/>
              </a:defRPr>
            </a:pPr>
            <a:r>
              <a:t>    Biome A ──► Biome CA ──► Biome B</a:t>
            </a:r>
          </a:p>
          <a:p>
            <a:pPr>
              <a:defRPr sz="1400">
                <a:latin typeface="Courier New"/>
              </a:defRPr>
            </a:pPr>
            <a:r>
              <a:t>        ↑                         │</a:t>
            </a:r>
          </a:p>
          <a:p>
            <a:pPr>
              <a:defRPr sz="1400">
                <a:latin typeface="Courier New"/>
              </a:defRPr>
            </a:pPr>
            <a:r>
              <a:t>        └────── Ping-Pong Swap ───┘</a:t>
            </a:r>
          </a:p>
          <a:p>
            <a:pPr>
              <a:defRPr sz="1400">
                <a:latin typeface="Courier New"/>
              </a:defRPr>
            </a:pPr>
            <a:r>
              <a:t>  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400"/>
            </a:pPr>
            <a:r>
              <a:t>Why Ping-Pong?</a:t>
            </a:r>
          </a:p>
          <a:p>
            <a:pPr>
              <a:defRPr sz="2000"/>
            </a:pPr>
            <a:r>
              <a:t>• Prevents race conditions in parallel updates</a:t>
            </a:r>
          </a:p>
          <a:p>
            <a:pPr>
              <a:defRPr sz="2000"/>
            </a:pPr>
            <a:r>
              <a:t>• Each frame: Read A → Write B → Swap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Cellular Automata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urier New"/>
              </a:defRPr>
            </a:pPr>
            <a:r>
              <a:t>// Thermal Erosion</a:t>
            </a:r>
          </a:p>
          <a:p>
            <a:pPr>
              <a:defRPr sz="1400">
                <a:latin typeface="Courier New"/>
              </a:defRPr>
            </a:pPr>
            <a:r>
              <a:t>if (h - neighbor_h &gt; threshold) {</a:t>
            </a:r>
          </a:p>
          <a:p>
            <a:pPr>
              <a:defRPr sz="1400">
                <a:latin typeface="Courier New"/>
              </a:defRPr>
            </a:pPr>
            <a:r>
              <a:t>    newHeight = height - erosionRate;</a:t>
            </a:r>
          </a:p>
          <a:p>
            <a:pPr>
              <a:defRPr sz="1400">
                <a:latin typeface="Courier New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urier New"/>
              </a:defRPr>
            </a:pPr>
            <a:r>
              <a:t>// Biome Spreading</a:t>
            </a:r>
          </a:p>
          <a:p>
            <a:pPr>
              <a:defRPr sz="1400">
                <a:latin typeface="Courier New"/>
              </a:defRPr>
            </a:pPr>
            <a:r>
              <a:t>if (grass &amp;&amp; forestNeighbors &gt;= 3) {</a:t>
            </a:r>
          </a:p>
          <a:p>
            <a:pPr>
              <a:defRPr sz="1400">
                <a:latin typeface="Courier New"/>
              </a:defRPr>
            </a:pPr>
            <a:r>
              <a:t>    if (random() &lt; 0.3) become(FOREST);</a:t>
            </a:r>
          </a:p>
          <a:p>
            <a:pPr>
              <a:defRPr sz="1400">
                <a:latin typeface="Courier New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6576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urier New"/>
              </a:defRPr>
            </a:pPr>
            <a:r>
              <a:t>// Feedback</a:t>
            </a:r>
          </a:p>
          <a:p>
            <a:pPr>
              <a:defRPr sz="1600">
                <a:latin typeface="Courier New"/>
              </a:defRPr>
            </a:pPr>
            <a:r>
              <a:t>if (biome == FOREST) erosionRate *= 0.2;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Biome System: 9 Discrete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609600">
                <a:tc>
                  <a:txBody>
                    <a:bodyPr/>
                    <a:lstStyle/>
                    <a:p>
                      <a:r>
                        <a:t>Biome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Behavior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🌊 Water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Height &lt; 0.3 (forced)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🏖️ Sand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Coastal zones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🌲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Spreads, resists erosion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🏜️ Desert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Spreads in dry areas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❄️ Snow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Peaks (&gt;0.85)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Benchmark: FPS vs Grid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ps_by_grid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4572000" cy="27432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0" y="2286000"/>
          <a:ext cx="3200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</a:tblGrid>
              <a:tr h="365760">
                <a:tc>
                  <a:txBody>
                    <a:bodyPr/>
                    <a:lstStyle/>
                    <a:p>
                      <a:r>
                        <a:t>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FPS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512²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3,062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1024²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1,414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2048²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3072²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FPS vs Simulation Speed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fps_by_sp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73152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303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/>
            </a:pPr>
            <a:r>
              <a:t>Key Findings:</a:t>
            </a:r>
          </a:p>
          <a:p>
            <a:r>
              <a:t>• Higher simulation speeds = More compute work</a:t>
            </a:r>
          </a:p>
          <a:p>
            <a:r>
              <a:t>• Still interactive (&gt;200 FPS) even at 3072x3072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Video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[1-Minute Walkthrough Playback]</a:t>
            </a:r>
          </a:p>
          <a:p/>
          <a:p>
            <a:r>
              <a:t>• Terrain Generation</a:t>
            </a:r>
          </a:p>
          <a:p>
            <a:r>
              <a:t>• Camera Navigation</a:t>
            </a:r>
          </a:p>
          <a:p>
            <a:r>
              <a:t>• Forest Spawning</a:t>
            </a:r>
          </a:p>
          <a:p>
            <a:r>
              <a:t>• Erosion Dynamics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Hydraulic erosion (water flow)</a:t>
            </a:r>
          </a:p>
          <a:p>
            <a:pPr/>
            <a:r>
              <a:t>GPU tessellation for LOD</a:t>
            </a:r>
          </a:p>
          <a:p>
            <a:pPr/>
            <a:r>
              <a:t>Infinite terrain streaming</a:t>
            </a:r>
          </a:p>
          <a:p>
            <a:pPr/>
            <a:r>
              <a:t>Advanced lighting (Shadows, AO)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/>
            </a:pPr>
            <a:r>
              <a:t>Questions?</a:t>
            </a:r>
          </a:p>
          <a:p>
            <a:pPr algn="ctr">
              <a:defRPr sz="2000"/>
            </a:pPr>
            <a:r>
              <a:t>github.com/mkhlf/livingworlds</a:t>
            </a:r>
          </a:p>
        </p:txBody>
      </p:sp>
      <p:pic>
        <p:nvPicPr>
          <p:cNvPr id="5" name="Picture 4" descr="grid2048_speed10000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200400"/>
            <a:ext cx="4572000" cy="2571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